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62" r:id="rId3"/>
    <p:sldId id="256" r:id="rId4"/>
    <p:sldId id="258" r:id="rId5"/>
    <p:sldId id="261" r:id="rId6"/>
    <p:sldId id="257" r:id="rId7"/>
    <p:sldId id="260" r:id="rId8"/>
    <p:sldId id="259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1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083E0-B250-4F8F-96D5-F7B821FF77D2}" type="datetimeFigureOut">
              <a:rPr kumimoji="1" lang="ja-JP" altLang="en-US" smtClean="0"/>
              <a:t>2024/5/7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96DE-6DB6-42A7-89A2-F0DBB6971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50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696DE-6DB6-42A7-89A2-F0DBB6971B5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197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696DE-6DB6-42A7-89A2-F0DBB6971B5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601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D8A916-F1B2-762B-EE2E-5063678FD8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2799" y="2798058"/>
            <a:ext cx="8453117" cy="61555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100000"/>
              </a:lnSpc>
              <a:defRPr sz="4000" spc="-140" baseline="0"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917268-1632-DB46-668D-E3FAE041D5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827" y="3716338"/>
            <a:ext cx="8453117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社名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601A692-65C8-7432-6169-705297F8E5FF}"/>
              </a:ext>
            </a:extLst>
          </p:cNvPr>
          <p:cNvCxnSpPr/>
          <p:nvPr userDrawn="1"/>
        </p:nvCxnSpPr>
        <p:spPr>
          <a:xfrm>
            <a:off x="215900" y="0"/>
            <a:ext cx="0" cy="6858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64C5FFD-B300-4DCE-0865-7AB09C76B7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1827" y="4025900"/>
            <a:ext cx="8453117" cy="16986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900" spc="140" baseline="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kumimoji="1" lang="en-US" altLang="ja-JP" dirty="0"/>
              <a:t>2024-XX-XX</a:t>
            </a:r>
            <a:endParaRPr kumimoji="1" lang="ja-JP" altLang="en-US" dirty="0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B2F4D7AB-75EC-E962-55BE-05467218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ICHIBAN SIMPLE template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48D929AD-B8BA-DF3C-7325-B0F399FA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682010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キーメッセ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83164A-94EC-04CE-37EE-591185034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569368"/>
            <a:ext cx="11522076" cy="8022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2400" spc="-14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キーメッセージ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CA9728-64B4-D7AE-9EA5-6D6A2D1F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ICHIBAN SIMPLE template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CCD10E-6D1B-C58D-EBC8-CB761B19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5573E3FD-41C0-5456-809E-CCB57897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70181"/>
            <a:ext cx="1152207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defRPr sz="1200">
                <a:solidFill>
                  <a:schemeClr val="accent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010B0C8B-F8BF-0AF5-54D7-247E8E1709CD}"/>
              </a:ext>
            </a:extLst>
          </p:cNvPr>
          <p:cNvCxnSpPr>
            <a:cxnSpLocks/>
          </p:cNvCxnSpPr>
          <p:nvPr userDrawn="1"/>
        </p:nvCxnSpPr>
        <p:spPr>
          <a:xfrm>
            <a:off x="11531600" y="6610350"/>
            <a:ext cx="0" cy="24765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77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9FCC3B"/>
          </p15:clr>
        </p15:guide>
        <p15:guide id="2" pos="7469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キーメッセージ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83164A-94EC-04CE-37EE-591185034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569368"/>
            <a:ext cx="11522076" cy="8022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2400" spc="-14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キーメッセージ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CA9728-64B4-D7AE-9EA5-6D6A2D1F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ICHIBAN SIMPLE template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CCD10E-6D1B-C58D-EBC8-CB761B19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5573E3FD-41C0-5456-809E-CCB57897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70181"/>
            <a:ext cx="1152207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defRPr sz="1200">
                <a:solidFill>
                  <a:schemeClr val="accent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010B0C8B-F8BF-0AF5-54D7-247E8E1709CD}"/>
              </a:ext>
            </a:extLst>
          </p:cNvPr>
          <p:cNvCxnSpPr>
            <a:cxnSpLocks/>
          </p:cNvCxnSpPr>
          <p:nvPr userDrawn="1"/>
        </p:nvCxnSpPr>
        <p:spPr>
          <a:xfrm>
            <a:off x="11531600" y="6610350"/>
            <a:ext cx="0" cy="24765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5A57F326-C488-F391-08E7-9F9F8BFE9B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778" y="1579852"/>
            <a:ext cx="11022443" cy="4519612"/>
          </a:xfrm>
          <a:prstGeom prst="rect">
            <a:avLst/>
          </a:prstGeom>
        </p:spPr>
        <p:txBody>
          <a:bodyPr lIns="0" tIns="0" rIns="0" bIns="0"/>
          <a:lstStyle>
            <a:lvl1pPr marL="0" indent="0" defTabSz="17938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/>
            </a:lvl1pPr>
            <a:lvl2pPr marL="0" indent="0" defTabSz="179388">
              <a:buNone/>
              <a:defRPr sz="16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1553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9FCC3B"/>
          </p15:clr>
        </p15:guide>
        <p15:guide id="2" pos="7469">
          <p15:clr>
            <a:srgbClr val="9FCC3B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CA65AB-B3FB-30C2-15F3-00C9C4117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70181"/>
            <a:ext cx="1152207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defRPr sz="1200">
                <a:solidFill>
                  <a:schemeClr val="accent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5BF984F-C80E-FE48-216F-4D7B739A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ICHIBAN SIMPLE template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8C2261-1BD8-C8F6-B91D-55DF3B20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05CA232-9C71-0151-8BDA-5607C58736B1}"/>
              </a:ext>
            </a:extLst>
          </p:cNvPr>
          <p:cNvCxnSpPr>
            <a:cxnSpLocks/>
          </p:cNvCxnSpPr>
          <p:nvPr userDrawn="1"/>
        </p:nvCxnSpPr>
        <p:spPr>
          <a:xfrm>
            <a:off x="11531600" y="6610350"/>
            <a:ext cx="0" cy="24765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13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9FCC3B"/>
          </p15:clr>
        </p15:guide>
        <p15:guide id="2" pos="7469" userDrawn="1">
          <p15:clr>
            <a:srgbClr val="9FCC3B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キー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CA9728-64B4-D7AE-9EA5-6D6A2D1F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ICHIBAN SIMPLE template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CCD10E-6D1B-C58D-EBC8-CB761B19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フレーム 1">
            <a:extLst>
              <a:ext uri="{FF2B5EF4-FFF2-40B4-BE49-F238E27FC236}">
                <a16:creationId xmlns:a16="http://schemas.microsoft.com/office/drawing/2014/main" id="{B818BD0A-C1DD-EB2E-1350-A0CDBEA4D7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0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F95697D-A8FF-B2A3-2CE3-329D52B30C00}"/>
              </a:ext>
            </a:extLst>
          </p:cNvPr>
          <p:cNvCxnSpPr>
            <a:cxnSpLocks/>
          </p:cNvCxnSpPr>
          <p:nvPr userDrawn="1"/>
        </p:nvCxnSpPr>
        <p:spPr>
          <a:xfrm>
            <a:off x="11531600" y="6610350"/>
            <a:ext cx="0" cy="2476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5CCC478E-A8C8-9101-0674-4E6D23C2F2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731" y="3235101"/>
            <a:ext cx="11520307" cy="387798"/>
          </a:xfrm>
          <a:prstGeom prst="rect">
            <a:avLst/>
          </a:prstGeom>
        </p:spPr>
        <p:txBody>
          <a:bodyPr lIns="0" tIns="0" rIns="0" bIns="0" anchor="ctr" anchorCtr="1">
            <a:spAutoFit/>
          </a:bodyPr>
          <a:lstStyle>
            <a:lvl1pPr marL="0" indent="0" algn="ctr">
              <a:buNone/>
              <a:defRPr spc="-80" baseline="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キーメッセージ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2843868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9FCC3B"/>
          </p15:clr>
        </p15:guide>
        <p15:guide id="2" pos="7469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2451F8-FACD-BC7C-CD2F-8BB58E050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3086260"/>
            <a:ext cx="7451292" cy="7386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4800" spc="-140" baseline="0"/>
            </a:lvl1pPr>
          </a:lstStyle>
          <a:p>
            <a:r>
              <a:rPr kumimoji="1" lang="ja-JP" altLang="en-US" dirty="0"/>
              <a:t>章タイトル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C14408-5C96-D710-E687-AC9D4BBCD19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2594413"/>
            <a:ext cx="7397750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/>
              <a:t>章番号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0A0755-42CE-E9D8-B350-19287C69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ICHIBAN SIMPLE template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642D2F-948C-D83B-7AB2-D6EB6AEF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C045BD-2B19-4D9C-5901-5FF2ABD12B32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714171"/>
            <a:ext cx="60234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AB63676-FB08-8574-20E3-68AB8ABE9717}"/>
              </a:ext>
            </a:extLst>
          </p:cNvPr>
          <p:cNvCxnSpPr>
            <a:cxnSpLocks/>
          </p:cNvCxnSpPr>
          <p:nvPr userDrawn="1"/>
        </p:nvCxnSpPr>
        <p:spPr>
          <a:xfrm>
            <a:off x="215900" y="215900"/>
            <a:ext cx="0" cy="21717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BFB5998-CD4C-4167-1FEE-83CF4162E550}"/>
              </a:ext>
            </a:extLst>
          </p:cNvPr>
          <p:cNvCxnSpPr>
            <a:cxnSpLocks/>
          </p:cNvCxnSpPr>
          <p:nvPr userDrawn="1"/>
        </p:nvCxnSpPr>
        <p:spPr>
          <a:xfrm>
            <a:off x="215900" y="3086260"/>
            <a:ext cx="0" cy="322405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D29E1F7-54D6-8B90-3607-93B466B77570}"/>
              </a:ext>
            </a:extLst>
          </p:cNvPr>
          <p:cNvCxnSpPr>
            <a:cxnSpLocks/>
          </p:cNvCxnSpPr>
          <p:nvPr userDrawn="1"/>
        </p:nvCxnSpPr>
        <p:spPr>
          <a:xfrm>
            <a:off x="11974022" y="215900"/>
            <a:ext cx="0" cy="609441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2304FCE-0648-4D17-E2BA-A7F8172E57C1}"/>
              </a:ext>
            </a:extLst>
          </p:cNvPr>
          <p:cNvCxnSpPr>
            <a:cxnSpLocks/>
          </p:cNvCxnSpPr>
          <p:nvPr userDrawn="1"/>
        </p:nvCxnSpPr>
        <p:spPr>
          <a:xfrm flipH="1">
            <a:off x="215900" y="215900"/>
            <a:ext cx="1175812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427F7ED-3DF7-EFD8-FEF3-BF94872EC61C}"/>
              </a:ext>
            </a:extLst>
          </p:cNvPr>
          <p:cNvCxnSpPr>
            <a:cxnSpLocks/>
          </p:cNvCxnSpPr>
          <p:nvPr userDrawn="1"/>
        </p:nvCxnSpPr>
        <p:spPr>
          <a:xfrm flipH="1">
            <a:off x="215900" y="6310312"/>
            <a:ext cx="11766368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838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64269F-11F2-AAFC-11EE-60C2F402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ICHIBAN SIMPLE template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AEF266-4BCF-1F54-D237-2C4CEA31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29045ED0-745F-3DF3-A1FB-BDE3CC323008}"/>
              </a:ext>
            </a:extLst>
          </p:cNvPr>
          <p:cNvCxnSpPr>
            <a:cxnSpLocks/>
          </p:cNvCxnSpPr>
          <p:nvPr userDrawn="1"/>
        </p:nvCxnSpPr>
        <p:spPr>
          <a:xfrm>
            <a:off x="11531600" y="6610350"/>
            <a:ext cx="0" cy="24765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123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9FCC3B"/>
          </p15:clr>
        </p15:guide>
        <p15:guide id="2" pos="7469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フッター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05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9FCC3B"/>
          </p15:clr>
        </p15:guide>
        <p15:guide id="2" pos="7469">
          <p15:clr>
            <a:srgbClr val="9FCC3B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F6A91A-0BBA-7987-E575-9CF15A220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6731" y="6538912"/>
            <a:ext cx="41148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80" baseline="0">
                <a:solidFill>
                  <a:schemeClr val="tx1">
                    <a:tint val="7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/>
              <a:t>ICHIBAN SIMPLE template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4CEB82-0F9D-28B2-8553-47E29A29A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2635" y="6581774"/>
            <a:ext cx="425268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fld id="{3B09FD7E-EA79-4AC9-B47C-47EE1A48B02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631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4" r:id="rId4"/>
    <p:sldLayoutId id="2147483656" r:id="rId5"/>
    <p:sldLayoutId id="2147483651" r:id="rId6"/>
    <p:sldLayoutId id="2147483655" r:id="rId7"/>
    <p:sldLayoutId id="2147483658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8F0CECF-8391-4FBE-4A68-7477519A12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" t="-145" r="28" b="145"/>
          <a:stretch/>
        </p:blipFill>
        <p:spPr>
          <a:xfrm>
            <a:off x="839733" y="1052731"/>
            <a:ext cx="3337413" cy="18772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424E7AF3-6C17-0704-956E-7C72B2823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744" y="3866841"/>
            <a:ext cx="3338354" cy="18799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96D717F1-C06A-037B-2FAB-A8A34C6F6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708" y="3871605"/>
            <a:ext cx="3333366" cy="18751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8AAD0EE2-6DA8-1E2E-DA22-BAB64B89D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33" y="3864861"/>
            <a:ext cx="3345355" cy="18819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4CB14343-7871-1D2F-AA50-B8195682FB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0744" y="1052731"/>
            <a:ext cx="3337413" cy="18831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C0771281-01FA-4FF9-142F-8E06EE38DA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3182" y="1052731"/>
            <a:ext cx="3335892" cy="18725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133CF2C-0D83-4E8F-2EEA-573E1F27D2FB}"/>
              </a:ext>
            </a:extLst>
          </p:cNvPr>
          <p:cNvSpPr txBox="1"/>
          <p:nvPr/>
        </p:nvSpPr>
        <p:spPr>
          <a:xfrm>
            <a:off x="839734" y="590181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タイトルスライド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2ECDA91-CB31-EEBC-8F83-4B9079E9E286}"/>
              </a:ext>
            </a:extLst>
          </p:cNvPr>
          <p:cNvSpPr txBox="1"/>
          <p:nvPr/>
        </p:nvSpPr>
        <p:spPr>
          <a:xfrm>
            <a:off x="4433182" y="590181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タイトルとキーメッセージ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C48C640-DAD0-8E60-163D-B1CB4B754D3D}"/>
              </a:ext>
            </a:extLst>
          </p:cNvPr>
          <p:cNvSpPr txBox="1"/>
          <p:nvPr/>
        </p:nvSpPr>
        <p:spPr>
          <a:xfrm>
            <a:off x="8026773" y="590181"/>
            <a:ext cx="3345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タイトルとキーメッセージとコンテンツ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EAB114F-DA48-4B9D-3921-DB50EB1D1514}"/>
              </a:ext>
            </a:extLst>
          </p:cNvPr>
          <p:cNvSpPr txBox="1"/>
          <p:nvPr/>
        </p:nvSpPr>
        <p:spPr>
          <a:xfrm>
            <a:off x="839734" y="3392576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タイトルのみ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60BB3AB-15D7-87B7-69BD-D00949BD22C2}"/>
              </a:ext>
            </a:extLst>
          </p:cNvPr>
          <p:cNvSpPr txBox="1"/>
          <p:nvPr/>
        </p:nvSpPr>
        <p:spPr>
          <a:xfrm>
            <a:off x="4433182" y="3392576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キースライド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9FEB960-E526-AB3C-80BD-BDF383B07FED}"/>
              </a:ext>
            </a:extLst>
          </p:cNvPr>
          <p:cNvSpPr txBox="1"/>
          <p:nvPr/>
        </p:nvSpPr>
        <p:spPr>
          <a:xfrm>
            <a:off x="8026773" y="3392576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セクション見出し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5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8F0CECF-8391-4FBE-4A68-7477519A12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" r="12"/>
          <a:stretch/>
        </p:blipFill>
        <p:spPr>
          <a:xfrm>
            <a:off x="829343" y="1052951"/>
            <a:ext cx="3337413" cy="1877295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424E7AF3-6C17-0704-956E-7C72B2823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20354" y="3868129"/>
            <a:ext cx="3338354" cy="1877824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96D717F1-C06A-037B-2FAB-A8A34C6F6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5318" y="3871912"/>
            <a:ext cx="3333366" cy="1875018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8AAD0EE2-6DA8-1E2E-DA22-BAB64B89D6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9343" y="3865169"/>
            <a:ext cx="3345355" cy="1881762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4CB14343-7871-1D2F-AA50-B8195682FB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20354" y="1055880"/>
            <a:ext cx="3337413" cy="1877294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C0771281-01FA-4FF9-142F-8E06EE38DA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26265" y="1052949"/>
            <a:ext cx="3328945" cy="1872532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133CF2C-0D83-4E8F-2EEA-573E1F27D2FB}"/>
              </a:ext>
            </a:extLst>
          </p:cNvPr>
          <p:cNvSpPr txBox="1"/>
          <p:nvPr/>
        </p:nvSpPr>
        <p:spPr>
          <a:xfrm>
            <a:off x="829344" y="590181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タイトルスライド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2ECDA91-CB31-EEBC-8F83-4B9079E9E286}"/>
              </a:ext>
            </a:extLst>
          </p:cNvPr>
          <p:cNvSpPr txBox="1"/>
          <p:nvPr/>
        </p:nvSpPr>
        <p:spPr>
          <a:xfrm>
            <a:off x="4422792" y="590181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タイトルとキーメッセージ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C48C640-DAD0-8E60-163D-B1CB4B754D3D}"/>
              </a:ext>
            </a:extLst>
          </p:cNvPr>
          <p:cNvSpPr txBox="1"/>
          <p:nvPr/>
        </p:nvSpPr>
        <p:spPr>
          <a:xfrm>
            <a:off x="8016383" y="590181"/>
            <a:ext cx="3345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タイトルとキーメッセージとコンテンツ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EAB114F-DA48-4B9D-3921-DB50EB1D1514}"/>
              </a:ext>
            </a:extLst>
          </p:cNvPr>
          <p:cNvSpPr txBox="1"/>
          <p:nvPr/>
        </p:nvSpPr>
        <p:spPr>
          <a:xfrm>
            <a:off x="829344" y="3392576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タイトルのみ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60BB3AB-15D7-87B7-69BD-D00949BD22C2}"/>
              </a:ext>
            </a:extLst>
          </p:cNvPr>
          <p:cNvSpPr txBox="1"/>
          <p:nvPr/>
        </p:nvSpPr>
        <p:spPr>
          <a:xfrm>
            <a:off x="4422792" y="3392576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キースライド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9FEB960-E526-AB3C-80BD-BDF383B07FED}"/>
              </a:ext>
            </a:extLst>
          </p:cNvPr>
          <p:cNvSpPr txBox="1"/>
          <p:nvPr/>
        </p:nvSpPr>
        <p:spPr>
          <a:xfrm>
            <a:off x="8016383" y="3392576"/>
            <a:ext cx="334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2"/>
                </a:solidFill>
              </a:rPr>
              <a:t>セクション見出し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08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7E5AD9-A24A-3969-3754-81AE86B45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99" y="2798058"/>
            <a:ext cx="8453117" cy="615553"/>
          </a:xfrm>
        </p:spPr>
        <p:txBody>
          <a:bodyPr/>
          <a:lstStyle/>
          <a:p>
            <a:r>
              <a:rPr lang="ja-JP" altLang="en-US" dirty="0"/>
              <a:t>資料作成伴走サービスのご提案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022038-FCD2-768D-586A-37AF2FACE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827" y="3716338"/>
            <a:ext cx="8453117" cy="215444"/>
          </a:xfrm>
        </p:spPr>
        <p:txBody>
          <a:bodyPr/>
          <a:lstStyle/>
          <a:p>
            <a:r>
              <a:rPr lang="ja-JP" altLang="en-US" dirty="0"/>
              <a:t>麦</a:t>
            </a:r>
            <a:r>
              <a:rPr lang="en-US" altLang="ja-JP" dirty="0"/>
              <a:t>.pptx</a:t>
            </a:r>
            <a:endParaRPr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6F8566D-FA93-42BB-9EF3-BC572F1358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827" y="4025900"/>
            <a:ext cx="8453117" cy="169863"/>
          </a:xfrm>
        </p:spPr>
        <p:txBody>
          <a:bodyPr/>
          <a:lstStyle/>
          <a:p>
            <a:r>
              <a:rPr lang="en-US" altLang="ja-JP" dirty="0"/>
              <a:t>Ver.001</a:t>
            </a:r>
            <a:r>
              <a:rPr lang="ja-JP" altLang="en-US" dirty="0"/>
              <a:t>　</a:t>
            </a:r>
            <a:r>
              <a:rPr lang="en-US" altLang="ja-JP" dirty="0"/>
              <a:t>2024-05-09</a:t>
            </a:r>
            <a:endParaRPr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B9C1B94-15CD-52E2-2DBB-0B4CF8EB86D6}"/>
              </a:ext>
            </a:extLst>
          </p:cNvPr>
          <p:cNvSpPr/>
          <p:nvPr/>
        </p:nvSpPr>
        <p:spPr>
          <a:xfrm>
            <a:off x="10579100" y="266700"/>
            <a:ext cx="1358900" cy="279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/>
              <a:t>LOGO</a:t>
            </a:r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970623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EE1662-6263-0AF3-AB2A-49255C97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3086260"/>
            <a:ext cx="5264150" cy="738664"/>
          </a:xfrm>
        </p:spPr>
        <p:txBody>
          <a:bodyPr/>
          <a:lstStyle/>
          <a:p>
            <a:r>
              <a:rPr lang="ja-JP" altLang="en-US" dirty="0"/>
              <a:t>サービス概要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8E4BAB-E4CE-AE42-B998-6EE6D2377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594413"/>
            <a:ext cx="5264150" cy="276999"/>
          </a:xfrm>
        </p:spPr>
        <p:txBody>
          <a:bodyPr/>
          <a:lstStyle/>
          <a:p>
            <a:r>
              <a:rPr lang="en-US" altLang="ja-JP" dirty="0"/>
              <a:t>01</a:t>
            </a:r>
            <a:endParaRPr lang="ja-JP" altLang="en-US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03429C8-6963-BB28-9F26-1A18EC70C348}"/>
              </a:ext>
            </a:extLst>
          </p:cNvPr>
          <p:cNvSpPr/>
          <p:nvPr/>
        </p:nvSpPr>
        <p:spPr>
          <a:xfrm>
            <a:off x="8477250" y="3315494"/>
            <a:ext cx="1358900" cy="279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/>
              <a:t>LOGO</a:t>
            </a:r>
            <a:endParaRPr kumimoji="1" lang="ja-JP" altLang="en-US" sz="1050" dirty="0"/>
          </a:p>
        </p:txBody>
      </p:sp>
      <p:sp>
        <p:nvSpPr>
          <p:cNvPr id="23" name="フッター プレースホルダー 22">
            <a:extLst>
              <a:ext uri="{FF2B5EF4-FFF2-40B4-BE49-F238E27FC236}">
                <a16:creationId xmlns:a16="http://schemas.microsoft.com/office/drawing/2014/main" id="{8305DFA2-B065-A42D-593E-FDFA0BBB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ICHIBAN SIMPLE template</a:t>
            </a:r>
            <a:endParaRPr kumimoji="1" lang="ja-JP" altLang="en-US" dirty="0"/>
          </a:p>
        </p:txBody>
      </p:sp>
      <p:sp>
        <p:nvSpPr>
          <p:cNvPr id="24" name="スライド番号プレースホルダー 23">
            <a:extLst>
              <a:ext uri="{FF2B5EF4-FFF2-40B4-BE49-F238E27FC236}">
                <a16:creationId xmlns:a16="http://schemas.microsoft.com/office/drawing/2014/main" id="{90EEC79A-CA83-E39E-3857-ACDD31BE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57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2EAD0505-A204-B307-16CA-C21EDE048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これまでの資料作成に関するお悩みに対する打ち手は、</a:t>
            </a:r>
            <a:endParaRPr lang="en-US" altLang="ja-JP" dirty="0"/>
          </a:p>
          <a:p>
            <a:r>
              <a:rPr lang="ja-JP" altLang="en-US" dirty="0"/>
              <a:t>本質的ではありませんでした。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42ADE03-8C59-E328-74C7-586CDABE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ICHIBAN SIMPLE template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DF49EA-11EA-436A-ACA3-02E891890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DCE3219F-8AF1-2599-961F-E3D44A13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業界課題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029A3A4-04AB-E233-327E-B6EF4A988DB0}"/>
              </a:ext>
            </a:extLst>
          </p:cNvPr>
          <p:cNvSpPr/>
          <p:nvPr/>
        </p:nvSpPr>
        <p:spPr>
          <a:xfrm>
            <a:off x="727364" y="2462862"/>
            <a:ext cx="2919846" cy="402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ja-JP" alt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動画や書籍による学習</a:t>
            </a:r>
            <a:endParaRPr lang="ja-JP" altLang="en-US" b="1" dirty="0">
              <a:effectLst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7995084-4A9A-8BD9-7880-E4B531F1BC88}"/>
              </a:ext>
            </a:extLst>
          </p:cNvPr>
          <p:cNvSpPr/>
          <p:nvPr/>
        </p:nvSpPr>
        <p:spPr>
          <a:xfrm>
            <a:off x="4636077" y="2462862"/>
            <a:ext cx="2919846" cy="402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ja-JP" alt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短時間のビデオ通話</a:t>
            </a:r>
            <a:r>
              <a:rPr lang="en-US" altLang="ja-JP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FB</a:t>
            </a:r>
            <a:endParaRPr lang="ja-JP" altLang="en-US" b="1" dirty="0">
              <a:effectLst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E3E0F50-7E8D-56EF-BA62-EC9D3C89E64B}"/>
              </a:ext>
            </a:extLst>
          </p:cNvPr>
          <p:cNvSpPr/>
          <p:nvPr/>
        </p:nvSpPr>
        <p:spPr>
          <a:xfrm>
            <a:off x="8544790" y="2462862"/>
            <a:ext cx="2919846" cy="402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ja-JP" alt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資料作成を外注する</a:t>
            </a:r>
            <a:endParaRPr lang="ja-JP" altLang="en-US" b="1" dirty="0">
              <a:effectLst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0559A71-824B-2175-C8CD-E87DBD0DA71B}"/>
              </a:ext>
            </a:extLst>
          </p:cNvPr>
          <p:cNvCxnSpPr/>
          <p:nvPr/>
        </p:nvCxnSpPr>
        <p:spPr>
          <a:xfrm>
            <a:off x="4636077" y="2885856"/>
            <a:ext cx="29198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62BBFD9-B550-9876-DCCE-584CEBB4DEBD}"/>
              </a:ext>
            </a:extLst>
          </p:cNvPr>
          <p:cNvCxnSpPr/>
          <p:nvPr/>
        </p:nvCxnSpPr>
        <p:spPr>
          <a:xfrm>
            <a:off x="8544790" y="2885856"/>
            <a:ext cx="29198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B88FA522-4769-55BB-7BD3-345F0D047EE4}"/>
              </a:ext>
            </a:extLst>
          </p:cNvPr>
          <p:cNvCxnSpPr/>
          <p:nvPr/>
        </p:nvCxnSpPr>
        <p:spPr>
          <a:xfrm>
            <a:off x="727364" y="2885856"/>
            <a:ext cx="29198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C75253E-CF23-401B-F200-F14A2F054304}"/>
              </a:ext>
            </a:extLst>
          </p:cNvPr>
          <p:cNvSpPr/>
          <p:nvPr/>
        </p:nvSpPr>
        <p:spPr>
          <a:xfrm>
            <a:off x="8544790" y="3179646"/>
            <a:ext cx="779318" cy="19742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メリット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B074027-4EBB-4DD7-5D84-5FC923EC1ADB}"/>
              </a:ext>
            </a:extLst>
          </p:cNvPr>
          <p:cNvSpPr/>
          <p:nvPr/>
        </p:nvSpPr>
        <p:spPr>
          <a:xfrm>
            <a:off x="8544790" y="4470472"/>
            <a:ext cx="779318" cy="19742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デメリット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B853360-F39E-5F62-57FC-079CB267354D}"/>
              </a:ext>
            </a:extLst>
          </p:cNvPr>
          <p:cNvSpPr/>
          <p:nvPr/>
        </p:nvSpPr>
        <p:spPr>
          <a:xfrm>
            <a:off x="727364" y="4831001"/>
            <a:ext cx="2919846" cy="751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一度は納得するものの、いざ実務となると自分の資料に落とし込めない</a:t>
            </a:r>
          </a:p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見本と何が違うのかわからない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3CA54B1-982E-6857-2DBE-159CAE29FB23}"/>
              </a:ext>
            </a:extLst>
          </p:cNvPr>
          <p:cNvSpPr/>
          <p:nvPr/>
        </p:nvSpPr>
        <p:spPr>
          <a:xfrm>
            <a:off x="4636077" y="4831001"/>
            <a:ext cx="2919846" cy="10187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一度に色々言われても覚えきれない</a:t>
            </a:r>
          </a:p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構成の話、デザインの話、操作の話、がごちゃごちゃになってしまう</a:t>
            </a:r>
          </a:p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結局、あとでやります！となる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1DE10FE-3766-0D7B-B13F-E65475805560}"/>
              </a:ext>
            </a:extLst>
          </p:cNvPr>
          <p:cNvSpPr/>
          <p:nvPr/>
        </p:nvSpPr>
        <p:spPr>
          <a:xfrm>
            <a:off x="8544790" y="4831001"/>
            <a:ext cx="2919846" cy="751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44000" indent="-144000" rtl="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スキルは身につかない</a:t>
            </a:r>
          </a:p>
          <a:p>
            <a:pPr marL="144000" indent="-144000" rtl="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作ってもらったものをアレンジしようとしてもうまくはまらない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E765D86-0420-8A57-93D2-2EA0C922898A}"/>
              </a:ext>
            </a:extLst>
          </p:cNvPr>
          <p:cNvSpPr/>
          <p:nvPr/>
        </p:nvSpPr>
        <p:spPr>
          <a:xfrm>
            <a:off x="4636077" y="3179646"/>
            <a:ext cx="779318" cy="19742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メリット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E4B9127-380B-D520-66DF-358C6EDD2725}"/>
              </a:ext>
            </a:extLst>
          </p:cNvPr>
          <p:cNvSpPr/>
          <p:nvPr/>
        </p:nvSpPr>
        <p:spPr>
          <a:xfrm>
            <a:off x="4636077" y="4470472"/>
            <a:ext cx="779318" cy="19742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デメリット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4EDC627-0B1D-3198-733A-E9E5CCA2DCCD}"/>
              </a:ext>
            </a:extLst>
          </p:cNvPr>
          <p:cNvSpPr/>
          <p:nvPr/>
        </p:nvSpPr>
        <p:spPr>
          <a:xfrm>
            <a:off x="727364" y="3179646"/>
            <a:ext cx="779318" cy="19742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メリット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0856EA2F-23FA-AE76-51AE-D29EACFCFE5C}"/>
              </a:ext>
            </a:extLst>
          </p:cNvPr>
          <p:cNvSpPr/>
          <p:nvPr/>
        </p:nvSpPr>
        <p:spPr>
          <a:xfrm>
            <a:off x="727364" y="4470472"/>
            <a:ext cx="779318" cy="19742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/>
              <a:t>デメリット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C35A9B5-880D-0B5D-F745-A44B0A88F262}"/>
              </a:ext>
            </a:extLst>
          </p:cNvPr>
          <p:cNvSpPr/>
          <p:nvPr/>
        </p:nvSpPr>
        <p:spPr>
          <a:xfrm>
            <a:off x="727364" y="3488592"/>
            <a:ext cx="2919846" cy="547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体系的に基礎を学べる</a:t>
            </a:r>
            <a:endParaRPr lang="en-US" altLang="ja-JP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様々な種類の教材を試しやすい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B25C6C6-182C-5CE8-0759-3234DADF0DDF}"/>
              </a:ext>
            </a:extLst>
          </p:cNvPr>
          <p:cNvSpPr/>
          <p:nvPr/>
        </p:nvSpPr>
        <p:spPr>
          <a:xfrm>
            <a:off x="4636076" y="3488592"/>
            <a:ext cx="3098223" cy="54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実務に即したリアルな改善案が得られる</a:t>
            </a:r>
            <a:endParaRPr lang="en-US" altLang="ja-JP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変化が目に見えてわかりやすい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F9DFD09-6ADB-A2E4-1984-45B177028F20}"/>
              </a:ext>
            </a:extLst>
          </p:cNvPr>
          <p:cNvSpPr/>
          <p:nvPr/>
        </p:nvSpPr>
        <p:spPr>
          <a:xfrm>
            <a:off x="8544790" y="3488592"/>
            <a:ext cx="2919846" cy="814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44000" indent="-144000" rtl="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最も品質の高い</a:t>
            </a:r>
            <a:r>
              <a:rPr lang="ja-JP" alt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成果物が得られる</a:t>
            </a:r>
            <a:endParaRPr lang="en-US" altLang="ja-JP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44000" indent="-144000" rtl="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自分の時間を有効に使える</a:t>
            </a:r>
            <a:endParaRPr lang="en-US" altLang="ja-JP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44000" indent="-144000" rtl="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ja-JP" altLang="en-US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D2D6883A-780D-642C-31BB-845D4FC98B8F}"/>
              </a:ext>
            </a:extLst>
          </p:cNvPr>
          <p:cNvSpPr/>
          <p:nvPr/>
        </p:nvSpPr>
        <p:spPr>
          <a:xfrm>
            <a:off x="640080" y="1829573"/>
            <a:ext cx="7235536" cy="197427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自分のスキルを伸ばす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368C36C8-E529-B3C6-1587-2FDB04E5F8FD}"/>
              </a:ext>
            </a:extLst>
          </p:cNvPr>
          <p:cNvSpPr/>
          <p:nvPr/>
        </p:nvSpPr>
        <p:spPr>
          <a:xfrm>
            <a:off x="8458200" y="1829573"/>
            <a:ext cx="3093720" cy="197427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他者の力を借りる</a:t>
            </a:r>
            <a:endParaRPr kumimoji="1" lang="ja-JP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234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209E28AB-7159-56B8-B3BB-62F2097F6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569368"/>
            <a:ext cx="11522076" cy="802232"/>
          </a:xfrm>
        </p:spPr>
        <p:txBody>
          <a:bodyPr/>
          <a:lstStyle/>
          <a:p>
            <a:r>
              <a:rPr lang="ja-JP" altLang="en-US" dirty="0"/>
              <a:t>成長に必要なのは、ちょっとしたことを気軽に質問できる</a:t>
            </a:r>
            <a:endParaRPr lang="en-US" altLang="ja-JP" dirty="0"/>
          </a:p>
          <a:p>
            <a:r>
              <a:rPr lang="ja-JP" altLang="en-US" dirty="0"/>
              <a:t>「隣の席の先輩」でした。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C724CE-1818-0CDF-6787-6F7151FB1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731" y="6538912"/>
            <a:ext cx="4114800" cy="228600"/>
          </a:xfrm>
        </p:spPr>
        <p:txBody>
          <a:bodyPr/>
          <a:lstStyle/>
          <a:p>
            <a:r>
              <a:rPr lang="en-US" altLang="ja-JP" dirty="0"/>
              <a:t>ICHIBAN SIMPLE template</a:t>
            </a:r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B0E62E-7071-FE8E-ECB4-66652318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2635" y="6581774"/>
            <a:ext cx="425268" cy="228600"/>
          </a:xfrm>
        </p:spPr>
        <p:txBody>
          <a:bodyPr/>
          <a:lstStyle/>
          <a:p>
            <a:fld id="{3B09FD7E-EA79-4AC9-B47C-47EE1A48B026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8C51C3D-E9A3-B9B2-790F-15ED971E3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70181"/>
            <a:ext cx="11522076" cy="184666"/>
          </a:xfrm>
        </p:spPr>
        <p:txBody>
          <a:bodyPr/>
          <a:lstStyle/>
          <a:p>
            <a:r>
              <a:rPr lang="ja-JP" altLang="en-US" dirty="0"/>
              <a:t>弊社のご提案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6A1F038-D4F0-DBE1-088F-7DB5EF7DF15B}"/>
              </a:ext>
            </a:extLst>
          </p:cNvPr>
          <p:cNvSpPr/>
          <p:nvPr/>
        </p:nvSpPr>
        <p:spPr>
          <a:xfrm>
            <a:off x="11076202" y="212436"/>
            <a:ext cx="903362" cy="1857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LOGO</a:t>
            </a:r>
            <a:endParaRPr kumimoji="1" lang="ja-JP" altLang="en-US" sz="800" dirty="0"/>
          </a:p>
        </p:txBody>
      </p:sp>
      <p:pic>
        <p:nvPicPr>
          <p:cNvPr id="13" name="グラフィックス 12" descr="ユーザー 単色塗りつぶし">
            <a:extLst>
              <a:ext uri="{FF2B5EF4-FFF2-40B4-BE49-F238E27FC236}">
                <a16:creationId xmlns:a16="http://schemas.microsoft.com/office/drawing/2014/main" id="{85D4BCED-C938-DD17-B8AA-2D813C964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869" y="5000282"/>
            <a:ext cx="801688" cy="801688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3FC0ECD-7846-E8BB-DE1A-97A953EE38B4}"/>
              </a:ext>
            </a:extLst>
          </p:cNvPr>
          <p:cNvSpPr txBox="1"/>
          <p:nvPr/>
        </p:nvSpPr>
        <p:spPr>
          <a:xfrm>
            <a:off x="542320" y="2274948"/>
            <a:ext cx="357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「隣の席の先輩」のあり方</a:t>
            </a:r>
            <a:r>
              <a:rPr kumimoji="1" lang="ja-JP" altLang="en-US" sz="1600" dirty="0"/>
              <a:t>とは</a:t>
            </a:r>
            <a:r>
              <a:rPr kumimoji="1" lang="en-US" altLang="ja-JP" sz="1600" dirty="0"/>
              <a:t>…</a:t>
            </a:r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CD89A1-743E-23A7-C337-81CD6BC2DFCF}"/>
              </a:ext>
            </a:extLst>
          </p:cNvPr>
          <p:cNvSpPr/>
          <p:nvPr/>
        </p:nvSpPr>
        <p:spPr>
          <a:xfrm>
            <a:off x="727364" y="2947451"/>
            <a:ext cx="4327236" cy="1807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144000" indent="-1440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セミナーや単発講座よりも自社の内容に特化した</a:t>
            </a:r>
            <a:b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ja-JP" sz="1200" dirty="0">
                <a:solidFill>
                  <a:schemeClr val="accent2"/>
                </a:solidFill>
                <a:latin typeface="Arial" panose="020B0604020202020204" pitchFamily="34" charset="0"/>
              </a:rPr>
              <a:t>【</a:t>
            </a:r>
            <a:r>
              <a:rPr lang="ja-JP" altLang="en-US" sz="1200" dirty="0">
                <a:solidFill>
                  <a:schemeClr val="accent2"/>
                </a:solidFill>
                <a:latin typeface="Arial" panose="020B0604020202020204" pitchFamily="34" charset="0"/>
              </a:rPr>
              <a:t>コミット性</a:t>
            </a:r>
            <a:r>
              <a:rPr lang="en-US" altLang="ja-JP" sz="1200" dirty="0">
                <a:solidFill>
                  <a:schemeClr val="accent2"/>
                </a:solidFill>
                <a:latin typeface="Arial" panose="020B0604020202020204" pitchFamily="34" charset="0"/>
              </a:rPr>
              <a:t>】</a:t>
            </a:r>
          </a:p>
          <a:p>
            <a:pPr marL="144000" indent="-1440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わからないことを気軽に質問できる</a:t>
            </a:r>
            <a:r>
              <a:rPr lang="en-US" altLang="ja-JP" sz="1200" dirty="0">
                <a:solidFill>
                  <a:schemeClr val="accent2"/>
                </a:solidFill>
                <a:latin typeface="Arial" panose="020B0604020202020204" pitchFamily="34" charset="0"/>
              </a:rPr>
              <a:t>【</a:t>
            </a:r>
            <a:r>
              <a:rPr lang="ja-JP" altLang="en-US" sz="1200" dirty="0">
                <a:solidFill>
                  <a:schemeClr val="accent2"/>
                </a:solidFill>
                <a:latin typeface="Arial" panose="020B0604020202020204" pitchFamily="34" charset="0"/>
              </a:rPr>
              <a:t>即時性</a:t>
            </a:r>
            <a:r>
              <a:rPr lang="en-US" altLang="ja-JP" sz="1200" dirty="0">
                <a:solidFill>
                  <a:schemeClr val="accent2"/>
                </a:solidFill>
                <a:latin typeface="Arial" panose="020B0604020202020204" pitchFamily="34" charset="0"/>
              </a:rPr>
              <a:t>】</a:t>
            </a:r>
          </a:p>
          <a:p>
            <a:pPr marL="144000" indent="-1440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作り始め、作成中、完成後と複数回にわたり</a:t>
            </a:r>
            <a:b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段階に応じたフィードバックをくれる</a:t>
            </a:r>
            <a:r>
              <a:rPr lang="en-US" altLang="ja-JP" sz="1200" dirty="0">
                <a:solidFill>
                  <a:schemeClr val="accent2"/>
                </a:solidFill>
                <a:latin typeface="Arial" panose="020B0604020202020204" pitchFamily="34" charset="0"/>
              </a:rPr>
              <a:t>【</a:t>
            </a:r>
            <a:r>
              <a:rPr lang="ja-JP" altLang="en-US" sz="1200" dirty="0">
                <a:solidFill>
                  <a:schemeClr val="accent2"/>
                </a:solidFill>
                <a:latin typeface="Arial" panose="020B0604020202020204" pitchFamily="34" charset="0"/>
              </a:rPr>
              <a:t>伴走性</a:t>
            </a:r>
            <a:r>
              <a:rPr lang="en-US" altLang="ja-JP" sz="1200" dirty="0">
                <a:solidFill>
                  <a:schemeClr val="accent2"/>
                </a:solidFill>
                <a:latin typeface="Arial" panose="020B0604020202020204" pitchFamily="34" charset="0"/>
              </a:rPr>
              <a:t>】</a:t>
            </a:r>
          </a:p>
          <a:p>
            <a:pPr marL="144000" indent="-1440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質問はするもののあくまでメインで手を動かすのは</a:t>
            </a:r>
            <a:b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自分である</a:t>
            </a:r>
            <a:r>
              <a:rPr lang="en-US" altLang="ja-JP" sz="1200" dirty="0">
                <a:solidFill>
                  <a:schemeClr val="accent2"/>
                </a:solidFill>
                <a:latin typeface="Arial" panose="020B0604020202020204" pitchFamily="34" charset="0"/>
              </a:rPr>
              <a:t>【</a:t>
            </a:r>
            <a:r>
              <a:rPr lang="ja-JP" altLang="en-US" sz="1200" dirty="0">
                <a:solidFill>
                  <a:schemeClr val="accent2"/>
                </a:solidFill>
                <a:latin typeface="Arial" panose="020B0604020202020204" pitchFamily="34" charset="0"/>
              </a:rPr>
              <a:t>自主性</a:t>
            </a:r>
            <a:r>
              <a:rPr lang="en-US" altLang="ja-JP" sz="1200" dirty="0">
                <a:solidFill>
                  <a:schemeClr val="accent2"/>
                </a:solidFill>
                <a:latin typeface="Arial" panose="020B0604020202020204" pitchFamily="34" charset="0"/>
              </a:rPr>
              <a:t>】</a:t>
            </a:r>
            <a:endParaRPr lang="ja-JP" altLang="en-US" sz="12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C4C0899-79CA-B699-201B-0EA46F60E711}"/>
              </a:ext>
            </a:extLst>
          </p:cNvPr>
          <p:cNvCxnSpPr>
            <a:cxnSpLocks/>
          </p:cNvCxnSpPr>
          <p:nvPr/>
        </p:nvCxnSpPr>
        <p:spPr>
          <a:xfrm>
            <a:off x="688285" y="2710736"/>
            <a:ext cx="42032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15D82F1-949C-3D90-9BF0-AF9FC43AC8B4}"/>
              </a:ext>
            </a:extLst>
          </p:cNvPr>
          <p:cNvSpPr/>
          <p:nvPr/>
        </p:nvSpPr>
        <p:spPr>
          <a:xfrm>
            <a:off x="426028" y="1674812"/>
            <a:ext cx="4727758" cy="4537819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144000" indent="-144000" algn="l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kumimoji="1" lang="ja-JP" alt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矢印: 山形 33">
            <a:extLst>
              <a:ext uri="{FF2B5EF4-FFF2-40B4-BE49-F238E27FC236}">
                <a16:creationId xmlns:a16="http://schemas.microsoft.com/office/drawing/2014/main" id="{7D28F48C-996A-61CF-2ED4-A60F4031451E}"/>
              </a:ext>
            </a:extLst>
          </p:cNvPr>
          <p:cNvSpPr/>
          <p:nvPr/>
        </p:nvSpPr>
        <p:spPr>
          <a:xfrm rot="5400000">
            <a:off x="8498464" y="4619189"/>
            <a:ext cx="353291" cy="439447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144000" indent="-144000" algn="l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kumimoji="1" lang="ja-JP" alt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6D43DED-381D-40C1-6CC3-BB53A7D12E5C}"/>
              </a:ext>
            </a:extLst>
          </p:cNvPr>
          <p:cNvSpPr/>
          <p:nvPr/>
        </p:nvSpPr>
        <p:spPr>
          <a:xfrm>
            <a:off x="5868772" y="2148407"/>
            <a:ext cx="1193798" cy="23211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/>
              <a:t>実際の資料</a:t>
            </a:r>
            <a:endParaRPr kumimoji="1" lang="ja-JP" altLang="en-US" sz="12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C11E31E-C41B-FEB6-9D41-982E92C2EF18}"/>
              </a:ext>
            </a:extLst>
          </p:cNvPr>
          <p:cNvSpPr/>
          <p:nvPr/>
        </p:nvSpPr>
        <p:spPr>
          <a:xfrm>
            <a:off x="5801611" y="2457353"/>
            <a:ext cx="2919846" cy="751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セミナーと外注のハイブリッドで</a:t>
            </a:r>
            <a:b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適切なアドバイスを受けられます。</a:t>
            </a:r>
            <a:endParaRPr lang="en-US" altLang="ja-JP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実務にすぐに生かせます。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0F9AF09-7D02-C32E-8F54-6FD6A7436650}"/>
              </a:ext>
            </a:extLst>
          </p:cNvPr>
          <p:cNvSpPr/>
          <p:nvPr/>
        </p:nvSpPr>
        <p:spPr>
          <a:xfrm>
            <a:off x="7070190" y="2131533"/>
            <a:ext cx="856814" cy="281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だから、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31B38AA9-783F-5C53-614F-B0238AF9C055}"/>
              </a:ext>
            </a:extLst>
          </p:cNvPr>
          <p:cNvSpPr/>
          <p:nvPr/>
        </p:nvSpPr>
        <p:spPr>
          <a:xfrm>
            <a:off x="5868772" y="3378249"/>
            <a:ext cx="1193798" cy="23211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コメント</a:t>
            </a:r>
            <a:r>
              <a:rPr kumimoji="1" lang="en-US" altLang="ja-JP" sz="1200" dirty="0"/>
              <a:t>FB</a:t>
            </a:r>
            <a:endParaRPr kumimoji="1" lang="ja-JP" altLang="en-US" sz="12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B8AEF19-2DF7-AFF6-43D1-690AAEACFFAB}"/>
              </a:ext>
            </a:extLst>
          </p:cNvPr>
          <p:cNvSpPr/>
          <p:nvPr/>
        </p:nvSpPr>
        <p:spPr>
          <a:xfrm>
            <a:off x="5801611" y="3702578"/>
            <a:ext cx="2919846" cy="954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自分で手を動かすことで集中し、作業を覚えます。</a:t>
            </a:r>
            <a:endParaRPr lang="en-US" altLang="ja-JP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ログが残るので後から見返すことが</a:t>
            </a:r>
            <a:b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できます。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CB5F2CD-1C6E-A73A-1431-26D0BB211E95}"/>
              </a:ext>
            </a:extLst>
          </p:cNvPr>
          <p:cNvSpPr/>
          <p:nvPr/>
        </p:nvSpPr>
        <p:spPr>
          <a:xfrm>
            <a:off x="7070190" y="3361375"/>
            <a:ext cx="856814" cy="281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だから、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8F94D9E-A258-8EB5-222E-3E21BA6C1B45}"/>
              </a:ext>
            </a:extLst>
          </p:cNvPr>
          <p:cNvSpPr/>
          <p:nvPr/>
        </p:nvSpPr>
        <p:spPr>
          <a:xfrm>
            <a:off x="8937192" y="2166193"/>
            <a:ext cx="1193798" cy="23211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半日かける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81B54CF-4243-15E5-3C82-5CA3C11B2555}"/>
              </a:ext>
            </a:extLst>
          </p:cNvPr>
          <p:cNvSpPr/>
          <p:nvPr/>
        </p:nvSpPr>
        <p:spPr>
          <a:xfrm>
            <a:off x="8870031" y="2490522"/>
            <a:ext cx="2919846" cy="547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焦らず自分のペースで作業できます。</a:t>
            </a:r>
            <a:endParaRPr lang="en-US" altLang="ja-JP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完成まで伴走できます。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C8371C3-756B-7CBA-81F8-09C7F646D1A8}"/>
              </a:ext>
            </a:extLst>
          </p:cNvPr>
          <p:cNvSpPr/>
          <p:nvPr/>
        </p:nvSpPr>
        <p:spPr>
          <a:xfrm>
            <a:off x="10138610" y="2149319"/>
            <a:ext cx="856814" cy="281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から、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ED6BBE8-D3D6-7B04-62F6-4441320BB02E}"/>
              </a:ext>
            </a:extLst>
          </p:cNvPr>
          <p:cNvSpPr/>
          <p:nvPr/>
        </p:nvSpPr>
        <p:spPr>
          <a:xfrm>
            <a:off x="6163973" y="5020850"/>
            <a:ext cx="5022273" cy="3125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lang="ja-JP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「なぜそうするのか」のセオリーから理解でき、学びになる</a:t>
            </a:r>
            <a:endParaRPr lang="en-US" altLang="ja-JP" sz="1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07065130-3320-F63C-6B9E-475A97FFD313}"/>
              </a:ext>
            </a:extLst>
          </p:cNvPr>
          <p:cNvSpPr/>
          <p:nvPr/>
        </p:nvSpPr>
        <p:spPr>
          <a:xfrm>
            <a:off x="8937192" y="3381664"/>
            <a:ext cx="1193798" cy="23211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リアルタイム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58B9668-7D02-4130-146D-0040B5472607}"/>
              </a:ext>
            </a:extLst>
          </p:cNvPr>
          <p:cNvSpPr/>
          <p:nvPr/>
        </p:nvSpPr>
        <p:spPr>
          <a:xfrm>
            <a:off x="8870031" y="3705993"/>
            <a:ext cx="2919846" cy="547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不明点をすぐに解消できます。</a:t>
            </a:r>
            <a:endParaRPr lang="en-US" altLang="ja-JP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44000" indent="-144000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悩んで手が止まる時間をなくせます。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3BC2CCA-A2E8-1C63-9A9B-13C7F851DCA0}"/>
              </a:ext>
            </a:extLst>
          </p:cNvPr>
          <p:cNvSpPr/>
          <p:nvPr/>
        </p:nvSpPr>
        <p:spPr>
          <a:xfrm>
            <a:off x="10138610" y="3364790"/>
            <a:ext cx="856814" cy="281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だから、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36A5B5D-27AF-27F6-1DA4-1D5698547AE2}"/>
              </a:ext>
            </a:extLst>
          </p:cNvPr>
          <p:cNvSpPr/>
          <p:nvPr/>
        </p:nvSpPr>
        <p:spPr>
          <a:xfrm>
            <a:off x="6163973" y="5783165"/>
            <a:ext cx="5022273" cy="3125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lang="ja-JP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次の資料作成は時短になり、結果的にコスパが高い</a:t>
            </a:r>
          </a:p>
        </p:txBody>
      </p:sp>
      <p:sp>
        <p:nvSpPr>
          <p:cNvPr id="35" name="矢印: 山形 34">
            <a:extLst>
              <a:ext uri="{FF2B5EF4-FFF2-40B4-BE49-F238E27FC236}">
                <a16:creationId xmlns:a16="http://schemas.microsoft.com/office/drawing/2014/main" id="{78BBB3F9-7263-D50A-A4F5-C70DDBB5EBE6}"/>
              </a:ext>
            </a:extLst>
          </p:cNvPr>
          <p:cNvSpPr/>
          <p:nvPr/>
        </p:nvSpPr>
        <p:spPr>
          <a:xfrm rot="5400000">
            <a:off x="8498464" y="5333869"/>
            <a:ext cx="353291" cy="439447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144000" indent="-144000" algn="l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kumimoji="1" lang="ja-JP" alt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65DE6BE9-B0F7-1602-7EE1-E003FE8CFB3F}"/>
              </a:ext>
            </a:extLst>
          </p:cNvPr>
          <p:cNvCxnSpPr>
            <a:cxnSpLocks/>
          </p:cNvCxnSpPr>
          <p:nvPr/>
        </p:nvCxnSpPr>
        <p:spPr>
          <a:xfrm>
            <a:off x="5631873" y="4716341"/>
            <a:ext cx="270163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0B223250-4BB1-B370-8B74-A1B1F95D04AC}"/>
              </a:ext>
            </a:extLst>
          </p:cNvPr>
          <p:cNvCxnSpPr>
            <a:cxnSpLocks/>
          </p:cNvCxnSpPr>
          <p:nvPr/>
        </p:nvCxnSpPr>
        <p:spPr>
          <a:xfrm>
            <a:off x="8972262" y="4716341"/>
            <a:ext cx="270163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B1BF19F-B092-EA60-B10A-C9BD87CBD1C6}"/>
              </a:ext>
            </a:extLst>
          </p:cNvPr>
          <p:cNvCxnSpPr>
            <a:cxnSpLocks/>
          </p:cNvCxnSpPr>
          <p:nvPr/>
        </p:nvCxnSpPr>
        <p:spPr>
          <a:xfrm>
            <a:off x="5642264" y="5448552"/>
            <a:ext cx="270163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FF31CF8B-7B05-5237-9D84-AE79D88BFDA7}"/>
              </a:ext>
            </a:extLst>
          </p:cNvPr>
          <p:cNvCxnSpPr>
            <a:cxnSpLocks/>
          </p:cNvCxnSpPr>
          <p:nvPr/>
        </p:nvCxnSpPr>
        <p:spPr>
          <a:xfrm>
            <a:off x="8982653" y="5448552"/>
            <a:ext cx="270163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46EA57EB-C90C-E4A4-BE3A-CC34218A728C}"/>
              </a:ext>
            </a:extLst>
          </p:cNvPr>
          <p:cNvCxnSpPr>
            <a:cxnSpLocks/>
          </p:cNvCxnSpPr>
          <p:nvPr/>
        </p:nvCxnSpPr>
        <p:spPr>
          <a:xfrm>
            <a:off x="5631873" y="6212632"/>
            <a:ext cx="605241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6ABC75B-F3BC-A63D-B50C-E511E0D0060A}"/>
              </a:ext>
            </a:extLst>
          </p:cNvPr>
          <p:cNvSpPr txBox="1"/>
          <p:nvPr/>
        </p:nvSpPr>
        <p:spPr>
          <a:xfrm>
            <a:off x="634472" y="1987770"/>
            <a:ext cx="24263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資料作成のその先まで見据えた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65144F3-FA7D-1B91-7FA0-D7D7534E4809}"/>
              </a:ext>
            </a:extLst>
          </p:cNvPr>
          <p:cNvSpPr txBox="1"/>
          <p:nvPr/>
        </p:nvSpPr>
        <p:spPr>
          <a:xfrm>
            <a:off x="6543874" y="1546186"/>
            <a:ext cx="4493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/>
              <a:t>「隣の席の先輩」をサービスで再現しました。</a:t>
            </a:r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C4D6B1BC-8034-A585-3AFB-D255BC764670}"/>
              </a:ext>
            </a:extLst>
          </p:cNvPr>
          <p:cNvCxnSpPr>
            <a:cxnSpLocks/>
          </p:cNvCxnSpPr>
          <p:nvPr/>
        </p:nvCxnSpPr>
        <p:spPr>
          <a:xfrm>
            <a:off x="5896997" y="1952105"/>
            <a:ext cx="5787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グラフィックス 49" descr="ユーザー 単色塗りつぶし">
            <a:extLst>
              <a:ext uri="{FF2B5EF4-FFF2-40B4-BE49-F238E27FC236}">
                <a16:creationId xmlns:a16="http://schemas.microsoft.com/office/drawing/2014/main" id="{3BE24FA5-21BC-F2D5-8D66-3E885AEAB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3281" y="5000282"/>
            <a:ext cx="801688" cy="801688"/>
          </a:xfrm>
          <a:prstGeom prst="rect">
            <a:avLst/>
          </a:prstGeom>
        </p:spPr>
      </p:pic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96496BB-10F1-3D57-9AB9-F934622277B6}"/>
              </a:ext>
            </a:extLst>
          </p:cNvPr>
          <p:cNvSpPr txBox="1"/>
          <p:nvPr/>
        </p:nvSpPr>
        <p:spPr>
          <a:xfrm>
            <a:off x="1117019" y="573347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作成者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3077D75B-6BC0-5403-B8D9-A5C05B4F07A2}"/>
              </a:ext>
            </a:extLst>
          </p:cNvPr>
          <p:cNvSpPr txBox="1"/>
          <p:nvPr/>
        </p:nvSpPr>
        <p:spPr>
          <a:xfrm>
            <a:off x="3545311" y="573347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隣の先輩</a:t>
            </a: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E673F34C-2AEF-A5B5-6159-095611D844D8}"/>
              </a:ext>
            </a:extLst>
          </p:cNvPr>
          <p:cNvCxnSpPr/>
          <p:nvPr/>
        </p:nvCxnSpPr>
        <p:spPr>
          <a:xfrm>
            <a:off x="1901537" y="5261964"/>
            <a:ext cx="147550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9837AEC7-CC8A-4BB7-0B74-977CBD9DC9B2}"/>
              </a:ext>
            </a:extLst>
          </p:cNvPr>
          <p:cNvCxnSpPr>
            <a:cxnSpLocks/>
          </p:cNvCxnSpPr>
          <p:nvPr/>
        </p:nvCxnSpPr>
        <p:spPr>
          <a:xfrm flipH="1">
            <a:off x="1901537" y="5609712"/>
            <a:ext cx="147550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7DB5473-B8E9-EBA3-B7DB-564B08E144B1}"/>
              </a:ext>
            </a:extLst>
          </p:cNvPr>
          <p:cNvSpPr txBox="1"/>
          <p:nvPr/>
        </p:nvSpPr>
        <p:spPr>
          <a:xfrm>
            <a:off x="2427346" y="5019950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質問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A21BA8F-79CE-15E9-7ECD-432872E8EB54}"/>
              </a:ext>
            </a:extLst>
          </p:cNvPr>
          <p:cNvSpPr txBox="1"/>
          <p:nvPr/>
        </p:nvSpPr>
        <p:spPr>
          <a:xfrm>
            <a:off x="2234985" y="535928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アドバイス</a:t>
            </a:r>
          </a:p>
        </p:txBody>
      </p:sp>
    </p:spTree>
    <p:extLst>
      <p:ext uri="{BB962C8B-B14F-4D97-AF65-F5344CB8AC3E}">
        <p14:creationId xmlns:p14="http://schemas.microsoft.com/office/powerpoint/2010/main" val="3824613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8B86B7-E706-A9B4-4BE8-24BB7968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731" y="6538912"/>
            <a:ext cx="4114800" cy="228600"/>
          </a:xfrm>
        </p:spPr>
        <p:txBody>
          <a:bodyPr/>
          <a:lstStyle/>
          <a:p>
            <a:r>
              <a:rPr lang="en-US" altLang="ja-JP"/>
              <a:t>ICHIBAN SIMPLE template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95A9E3-3112-91A6-0EF0-452DCC8F4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2635" y="6581774"/>
            <a:ext cx="425268" cy="228600"/>
          </a:xfrm>
        </p:spPr>
        <p:txBody>
          <a:bodyPr/>
          <a:lstStyle/>
          <a:p>
            <a:fld id="{3B09FD7E-EA79-4AC9-B47C-47EE1A48B026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B4EC2E63-CAB1-7D12-8FA3-E979FDF8EC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731" y="2977082"/>
            <a:ext cx="11520307" cy="903837"/>
          </a:xfrm>
        </p:spPr>
        <p:txBody>
          <a:bodyPr/>
          <a:lstStyle/>
          <a:p>
            <a:r>
              <a:rPr lang="ja-JP" altLang="en-US" dirty="0"/>
              <a:t>時間をかけて資料作成に付き添い</a:t>
            </a:r>
            <a:endParaRPr lang="en-US" altLang="ja-JP" dirty="0"/>
          </a:p>
          <a:p>
            <a:r>
              <a:rPr lang="ja-JP" altLang="en-US" dirty="0"/>
              <a:t>コメント機能を使ったフィードバックを行います！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11D8041-72AA-0FFA-0F9D-221917DD72F4}"/>
              </a:ext>
            </a:extLst>
          </p:cNvPr>
          <p:cNvSpPr/>
          <p:nvPr/>
        </p:nvSpPr>
        <p:spPr>
          <a:xfrm>
            <a:off x="11076202" y="212436"/>
            <a:ext cx="903362" cy="1857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LOGO</a:t>
            </a:r>
            <a:endParaRPr kumimoji="1" lang="ja-JP" altLang="en-US" sz="8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3F7F3CC-107C-1D9C-8FB0-5C8C9EAD0692}"/>
              </a:ext>
            </a:extLst>
          </p:cNvPr>
          <p:cNvSpPr/>
          <p:nvPr/>
        </p:nvSpPr>
        <p:spPr>
          <a:xfrm>
            <a:off x="4636077" y="1707212"/>
            <a:ext cx="2919846" cy="402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1800"/>
              </a:spcBef>
              <a:spcAft>
                <a:spcPts val="600"/>
              </a:spcAft>
            </a:pPr>
            <a:r>
              <a:rPr lang="ja-JP" alt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ポイント</a:t>
            </a:r>
            <a:endParaRPr lang="ja-JP" altLang="en-US" b="1" dirty="0">
              <a:effectLst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3E0EA46-8CD0-7262-03CC-F491BEC898A1}"/>
              </a:ext>
            </a:extLst>
          </p:cNvPr>
          <p:cNvCxnSpPr>
            <a:cxnSpLocks/>
          </p:cNvCxnSpPr>
          <p:nvPr/>
        </p:nvCxnSpPr>
        <p:spPr>
          <a:xfrm>
            <a:off x="6096000" y="2231806"/>
            <a:ext cx="0" cy="3843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FB13A9A-CB49-484D-5377-D66BFED575FC}"/>
              </a:ext>
            </a:extLst>
          </p:cNvPr>
          <p:cNvSpPr/>
          <p:nvPr/>
        </p:nvSpPr>
        <p:spPr>
          <a:xfrm>
            <a:off x="1365250" y="4547471"/>
            <a:ext cx="9461500" cy="402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1800"/>
              </a:spcBef>
              <a:spcAft>
                <a:spcPts val="600"/>
              </a:spcAft>
            </a:pPr>
            <a:r>
              <a:rPr lang="ja-JP" alt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悩んだらすぐに相談できるので、手が止まってしまう時間をなくすことで時短になります。</a:t>
            </a:r>
            <a:endParaRPr lang="ja-JP" altLang="en-US" sz="1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974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347579-7CDB-A455-BF81-D002B59C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サービス当日の流れ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2E456B9-00E0-A215-B827-E6A0DD65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ICHIBAN SIMPLE template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5CA512-5ECD-78F2-2A32-42DE0354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9FD7E-EA79-4AC9-B47C-47EE1A48B026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FF0465-A2B6-C51A-D280-58D1FD11A7CC}"/>
              </a:ext>
            </a:extLst>
          </p:cNvPr>
          <p:cNvSpPr/>
          <p:nvPr/>
        </p:nvSpPr>
        <p:spPr>
          <a:xfrm>
            <a:off x="11076202" y="212436"/>
            <a:ext cx="903362" cy="1857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LOGO</a:t>
            </a:r>
            <a:endParaRPr kumimoji="1" lang="ja-JP" altLang="en-US" sz="800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08C046A-6E2E-DB3D-A76E-9EEAE0205879}"/>
              </a:ext>
            </a:extLst>
          </p:cNvPr>
          <p:cNvCxnSpPr>
            <a:cxnSpLocks/>
          </p:cNvCxnSpPr>
          <p:nvPr/>
        </p:nvCxnSpPr>
        <p:spPr>
          <a:xfrm>
            <a:off x="6095999" y="817351"/>
            <a:ext cx="0" cy="5147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E90AF7-854E-2810-5754-A5BC633BAF26}"/>
              </a:ext>
            </a:extLst>
          </p:cNvPr>
          <p:cNvSpPr txBox="1"/>
          <p:nvPr/>
        </p:nvSpPr>
        <p:spPr>
          <a:xfrm>
            <a:off x="5638799" y="817351"/>
            <a:ext cx="914400" cy="24622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kumimoji="1" lang="en-US" altLang="ja-JP" sz="1600" dirty="0"/>
              <a:t>9:00</a:t>
            </a:r>
            <a:endParaRPr kumimoji="1" lang="ja-JP" altLang="en-US" sz="1600" dirty="0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5DBD7001-30FF-9C3C-981D-2DE4D2334F92}"/>
              </a:ext>
            </a:extLst>
          </p:cNvPr>
          <p:cNvGrpSpPr/>
          <p:nvPr/>
        </p:nvGrpSpPr>
        <p:grpSpPr>
          <a:xfrm>
            <a:off x="1671023" y="1469272"/>
            <a:ext cx="8849951" cy="228600"/>
            <a:chOff x="1743076" y="1422444"/>
            <a:chExt cx="8849951" cy="228600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B1DC40DC-92B2-DE2C-5F1F-82144E8EA05D}"/>
                </a:ext>
              </a:extLst>
            </p:cNvPr>
            <p:cNvSpPr/>
            <p:nvPr/>
          </p:nvSpPr>
          <p:spPr>
            <a:xfrm>
              <a:off x="2709428" y="1444303"/>
              <a:ext cx="7883599" cy="19757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0" dirty="0">
                  <a:solidFill>
                    <a:schemeClr val="accent2"/>
                  </a:solidFill>
                </a:rPr>
                <a:t>朝イチ作戦会議。資料作成の目的や背景を共有し、計画を立てます。まずはじめにどこから手をつけたらいいのかコメントします。</a:t>
              </a:r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235630DB-963E-8498-B018-EAF17853BE22}"/>
                </a:ext>
              </a:extLst>
            </p:cNvPr>
            <p:cNvSpPr/>
            <p:nvPr/>
          </p:nvSpPr>
          <p:spPr>
            <a:xfrm>
              <a:off x="1743076" y="1422444"/>
              <a:ext cx="995793" cy="2286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chemeClr val="bg1"/>
                  </a:solidFill>
                </a:rPr>
                <a:t>打ち合わせ①</a:t>
              </a:r>
              <a:endParaRPr kumimoji="1" lang="en-US" altLang="ja-JP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CF5ACD2-6188-22C4-4C3A-80256DD36C7A}"/>
              </a:ext>
            </a:extLst>
          </p:cNvPr>
          <p:cNvSpPr txBox="1"/>
          <p:nvPr/>
        </p:nvSpPr>
        <p:spPr>
          <a:xfrm>
            <a:off x="5638799" y="1920331"/>
            <a:ext cx="914400" cy="24622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kumimoji="1" lang="en-US" altLang="ja-JP" sz="1600" dirty="0"/>
              <a:t>9:30</a:t>
            </a:r>
            <a:endParaRPr kumimoji="1" lang="ja-JP" altLang="en-US" sz="16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F173D40-5327-76B7-2E97-31FFD63C9AD7}"/>
              </a:ext>
            </a:extLst>
          </p:cNvPr>
          <p:cNvSpPr txBox="1"/>
          <p:nvPr/>
        </p:nvSpPr>
        <p:spPr>
          <a:xfrm>
            <a:off x="5638799" y="2681707"/>
            <a:ext cx="914400" cy="24622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ja-JP" sz="1600" dirty="0"/>
              <a:t>12</a:t>
            </a:r>
            <a:r>
              <a:rPr kumimoji="1" lang="en-US" altLang="ja-JP" sz="1600" dirty="0"/>
              <a:t>:00</a:t>
            </a:r>
            <a:endParaRPr kumimoji="1" lang="ja-JP" altLang="en-US" sz="1600" dirty="0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4E05AE3-777C-C45C-1EAB-461875B76CA3}"/>
              </a:ext>
            </a:extLst>
          </p:cNvPr>
          <p:cNvSpPr/>
          <p:nvPr/>
        </p:nvSpPr>
        <p:spPr>
          <a:xfrm>
            <a:off x="562842" y="1903008"/>
            <a:ext cx="4954730" cy="1017039"/>
          </a:xfrm>
          <a:prstGeom prst="roundRect">
            <a:avLst>
              <a:gd name="adj" fmla="val 96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通話を切って、ひたすら作業タイム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5D383812-C417-F176-B6B8-8866B000B35E}"/>
              </a:ext>
            </a:extLst>
          </p:cNvPr>
          <p:cNvSpPr/>
          <p:nvPr/>
        </p:nvSpPr>
        <p:spPr>
          <a:xfrm>
            <a:off x="562842" y="3079583"/>
            <a:ext cx="11066315" cy="3385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わからないことがあったので音声チャットをつなぐ。</a:t>
            </a:r>
            <a:r>
              <a:rPr kumimoji="1" lang="en-US" altLang="ja-JP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分で解決！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EB31B23-7130-6148-B53C-9CA6FDA5A27D}"/>
              </a:ext>
            </a:extLst>
          </p:cNvPr>
          <p:cNvSpPr txBox="1"/>
          <p:nvPr/>
        </p:nvSpPr>
        <p:spPr>
          <a:xfrm>
            <a:off x="5638799" y="3627410"/>
            <a:ext cx="914400" cy="24622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ja-JP" sz="1600" dirty="0"/>
              <a:t>13</a:t>
            </a:r>
            <a:r>
              <a:rPr kumimoji="1" lang="en-US" altLang="ja-JP" sz="1600" dirty="0"/>
              <a:t>:00</a:t>
            </a:r>
            <a:endParaRPr kumimoji="1" lang="ja-JP" altLang="en-US" sz="1600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4B5D30F0-1A67-D80A-C2AE-FE676ABB7FF1}"/>
              </a:ext>
            </a:extLst>
          </p:cNvPr>
          <p:cNvSpPr/>
          <p:nvPr/>
        </p:nvSpPr>
        <p:spPr>
          <a:xfrm>
            <a:off x="6674426" y="1903008"/>
            <a:ext cx="4954730" cy="1017039"/>
          </a:xfrm>
          <a:prstGeom prst="roundRect">
            <a:avLst>
              <a:gd name="adj" fmla="val 96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随時コメントを入れていく。</a:t>
            </a:r>
            <a:endParaRPr lang="en-US" altLang="ja-JP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（並行して個人の仕事も行っている。）</a:t>
            </a: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6B07086F-B487-B46E-2D8A-7511EFE0E00A}"/>
              </a:ext>
            </a:extLst>
          </p:cNvPr>
          <p:cNvGrpSpPr/>
          <p:nvPr/>
        </p:nvGrpSpPr>
        <p:grpSpPr>
          <a:xfrm>
            <a:off x="2888887" y="4244624"/>
            <a:ext cx="6372228" cy="228600"/>
            <a:chOff x="3040206" y="4197796"/>
            <a:chExt cx="6372228" cy="228600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6AB1A6C7-EC46-5072-08C6-158967F81565}"/>
                </a:ext>
              </a:extLst>
            </p:cNvPr>
            <p:cNvSpPr/>
            <p:nvPr/>
          </p:nvSpPr>
          <p:spPr>
            <a:xfrm>
              <a:off x="3996602" y="4223302"/>
              <a:ext cx="5415832" cy="17758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0" dirty="0">
                  <a:solidFill>
                    <a:schemeClr val="accent2"/>
                  </a:solidFill>
                </a:rPr>
                <a:t>午後イチ作戦会議。ここまでの進捗を共有し、仕上げまでに必要な工程を洗い出します。</a:t>
              </a:r>
            </a:p>
          </p:txBody>
        </p:sp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9BC50BAC-9981-3F7D-6AA8-B5EC6FEB5A0B}"/>
                </a:ext>
              </a:extLst>
            </p:cNvPr>
            <p:cNvSpPr/>
            <p:nvPr/>
          </p:nvSpPr>
          <p:spPr>
            <a:xfrm>
              <a:off x="3040206" y="4197796"/>
              <a:ext cx="995793" cy="2286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chemeClr val="bg1"/>
                  </a:solidFill>
                </a:rPr>
                <a:t>打ち合わせ②</a:t>
              </a:r>
              <a:endParaRPr kumimoji="1" lang="en-US" altLang="ja-JP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5FDB7B03-1F2B-8D04-5974-2EEFF74F655E}"/>
              </a:ext>
            </a:extLst>
          </p:cNvPr>
          <p:cNvSpPr/>
          <p:nvPr/>
        </p:nvSpPr>
        <p:spPr>
          <a:xfrm>
            <a:off x="562842" y="5006590"/>
            <a:ext cx="11066315" cy="3385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わからないことがあったので音声チャットをつなぐ。</a:t>
            </a:r>
            <a:r>
              <a:rPr kumimoji="1" lang="en-US" altLang="ja-JP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</a:t>
            </a:r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分かけて操作を画面共有で見せながら、</a:t>
            </a:r>
            <a:r>
              <a:rPr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表現方法をブラッシュアップ</a:t>
            </a:r>
            <a:endParaRPr kumimoji="1" lang="ja-JP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A11A992-8A5B-55C3-4217-8EC5C917663D}"/>
              </a:ext>
            </a:extLst>
          </p:cNvPr>
          <p:cNvSpPr txBox="1"/>
          <p:nvPr/>
        </p:nvSpPr>
        <p:spPr>
          <a:xfrm>
            <a:off x="5638799" y="4680040"/>
            <a:ext cx="914400" cy="24622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ja-JP" sz="1600" dirty="0"/>
              <a:t>14</a:t>
            </a:r>
            <a:r>
              <a:rPr kumimoji="1" lang="en-US" altLang="ja-JP" sz="1600" dirty="0"/>
              <a:t>:00</a:t>
            </a:r>
            <a:endParaRPr kumimoji="1" lang="ja-JP" altLang="en-US" sz="16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29A2BEB-1D34-BA3B-EFD0-0CCB8D3768F6}"/>
              </a:ext>
            </a:extLst>
          </p:cNvPr>
          <p:cNvSpPr txBox="1"/>
          <p:nvPr/>
        </p:nvSpPr>
        <p:spPr>
          <a:xfrm>
            <a:off x="5649190" y="5505802"/>
            <a:ext cx="914400" cy="24622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ja-JP" sz="1600" dirty="0"/>
              <a:t>15</a:t>
            </a:r>
            <a:r>
              <a:rPr kumimoji="1" lang="en-US" altLang="ja-JP" sz="1600" dirty="0"/>
              <a:t>:00</a:t>
            </a:r>
            <a:endParaRPr kumimoji="1" lang="ja-JP" altLang="en-US" sz="16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9BEF88F-4052-6C80-87A4-20F8CC849AFE}"/>
              </a:ext>
            </a:extLst>
          </p:cNvPr>
          <p:cNvSpPr txBox="1"/>
          <p:nvPr/>
        </p:nvSpPr>
        <p:spPr>
          <a:xfrm>
            <a:off x="4537363" y="6057896"/>
            <a:ext cx="3138054" cy="24622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chemeClr val="accent2"/>
                </a:solidFill>
              </a:rPr>
              <a:t>目標枚数のスライドが完成！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735860B-B731-95D8-7A6B-5F181CD1B649}"/>
              </a:ext>
            </a:extLst>
          </p:cNvPr>
          <p:cNvSpPr/>
          <p:nvPr/>
        </p:nvSpPr>
        <p:spPr>
          <a:xfrm>
            <a:off x="562840" y="732503"/>
            <a:ext cx="4968199" cy="402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1800"/>
              </a:spcBef>
              <a:spcAft>
                <a:spcPts val="600"/>
              </a:spcAft>
            </a:pPr>
            <a:r>
              <a:rPr lang="ja-JP" alt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依頼者様</a:t>
            </a:r>
            <a:endParaRPr lang="ja-JP" altLang="en-US" b="1" dirty="0">
              <a:effectLst/>
            </a:endParaRP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2AA0C6C-E99F-935C-DB81-E98E3C37267A}"/>
              </a:ext>
            </a:extLst>
          </p:cNvPr>
          <p:cNvCxnSpPr>
            <a:cxnSpLocks/>
          </p:cNvCxnSpPr>
          <p:nvPr/>
        </p:nvCxnSpPr>
        <p:spPr>
          <a:xfrm>
            <a:off x="562841" y="1155497"/>
            <a:ext cx="49547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AAFD66C-2A8B-1651-6F34-B654CD1BC142}"/>
              </a:ext>
            </a:extLst>
          </p:cNvPr>
          <p:cNvSpPr/>
          <p:nvPr/>
        </p:nvSpPr>
        <p:spPr>
          <a:xfrm>
            <a:off x="6674424" y="732503"/>
            <a:ext cx="4968201" cy="402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1800"/>
              </a:spcBef>
              <a:spcAft>
                <a:spcPts val="600"/>
              </a:spcAft>
            </a:pPr>
            <a:r>
              <a:rPr lang="ja-JP" alt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麦</a:t>
            </a:r>
            <a:r>
              <a:rPr lang="en-US" altLang="ja-JP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.pptx</a:t>
            </a:r>
            <a:endParaRPr lang="ja-JP" altLang="en-US" b="1" dirty="0">
              <a:effectLst/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EF061518-E7A5-A40E-62D9-51C653A82529}"/>
              </a:ext>
            </a:extLst>
          </p:cNvPr>
          <p:cNvCxnSpPr>
            <a:cxnSpLocks/>
          </p:cNvCxnSpPr>
          <p:nvPr/>
        </p:nvCxnSpPr>
        <p:spPr>
          <a:xfrm>
            <a:off x="6674425" y="1155497"/>
            <a:ext cx="49547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E0C43136-AEBF-6F4B-6AD4-98E8577A1BAF}"/>
              </a:ext>
            </a:extLst>
          </p:cNvPr>
          <p:cNvSpPr/>
          <p:nvPr/>
        </p:nvSpPr>
        <p:spPr>
          <a:xfrm>
            <a:off x="562842" y="3567665"/>
            <a:ext cx="4954730" cy="354011"/>
          </a:xfrm>
          <a:prstGeom prst="roundRect">
            <a:avLst>
              <a:gd name="adj" fmla="val 1841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通話を切って、ひたすら作業タイム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CFFB8739-B217-3E6A-341D-E0B40761AA64}"/>
              </a:ext>
            </a:extLst>
          </p:cNvPr>
          <p:cNvSpPr/>
          <p:nvPr/>
        </p:nvSpPr>
        <p:spPr>
          <a:xfrm>
            <a:off x="6674426" y="3567665"/>
            <a:ext cx="4954730" cy="354011"/>
          </a:xfrm>
          <a:prstGeom prst="roundRect">
            <a:avLst>
              <a:gd name="adj" fmla="val 960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随時コメントを入れていく。</a:t>
            </a:r>
            <a:endParaRPr lang="en-US" altLang="ja-JP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54326"/>
      </p:ext>
    </p:extLst>
  </p:cSld>
  <p:clrMapOvr>
    <a:masterClrMapping/>
  </p:clrMapOvr>
</p:sld>
</file>

<file path=ppt/theme/theme1.xml><?xml version="1.0" encoding="utf-8"?>
<a:theme xmlns:a="http://schemas.openxmlformats.org/drawingml/2006/main" name="Xテーマ">
  <a:themeElements>
    <a:clrScheme name="ユーザー定義 1">
      <a:dk1>
        <a:sysClr val="windowText" lastClr="000000"/>
      </a:dk1>
      <a:lt1>
        <a:sysClr val="window" lastClr="FFFFFF"/>
      </a:lt1>
      <a:dk2>
        <a:srgbClr val="70B437"/>
      </a:dk2>
      <a:lt2>
        <a:srgbClr val="E7E6E6"/>
      </a:lt2>
      <a:accent1>
        <a:srgbClr val="C3D60B"/>
      </a:accent1>
      <a:accent2>
        <a:srgbClr val="0079C2"/>
      </a:accent2>
      <a:accent3>
        <a:srgbClr val="5DB6E7"/>
      </a:accent3>
      <a:accent4>
        <a:srgbClr val="FFC000"/>
      </a:accent4>
      <a:accent5>
        <a:srgbClr val="176871"/>
      </a:accent5>
      <a:accent6>
        <a:srgbClr val="F27750"/>
      </a:accent6>
      <a:hlink>
        <a:srgbClr val="0563C1"/>
      </a:hlink>
      <a:folHlink>
        <a:srgbClr val="954F72"/>
      </a:folHlink>
    </a:clrScheme>
    <a:fontScheme name="ユーザー定義 3">
      <a:majorFont>
        <a:latin typeface="Arial"/>
        <a:ea typeface="游ゴシック Bold"/>
        <a:cs typeface=""/>
      </a:majorFont>
      <a:minorFont>
        <a:latin typeface="Arial"/>
        <a:ea typeface="游ゴシック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t">
        <a:spAutoFit/>
      </a:bodyPr>
      <a:lstStyle>
        <a:defPPr marL="144000" indent="-144000" algn="l">
          <a:lnSpc>
            <a:spcPct val="110000"/>
          </a:lnSpc>
          <a:spcAft>
            <a:spcPts val="500"/>
          </a:spcAft>
          <a:buFont typeface="Arial" panose="020B0604020202020204" pitchFamily="34" charset="0"/>
          <a:buChar char="•"/>
          <a:defRPr sz="1200" dirty="0">
            <a:solidFill>
              <a:srgbClr val="000000"/>
            </a:solidFill>
            <a:latin typeface="Arial" panose="020B0604020202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1" id="{2E2C0595-E47A-4072-8EF5-4FB31759DD55}" vid="{8E82AA9C-B2AA-4EBF-BE83-590FCDA0E53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基本のテンプレート2</Template>
  <TotalTime>458</TotalTime>
  <Words>679</Words>
  <Application>Microsoft Office PowerPoint</Application>
  <PresentationFormat>ワイド画面</PresentationFormat>
  <Paragraphs>118</Paragraphs>
  <Slides>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 UI</vt:lpstr>
      <vt:lpstr>游ゴシック</vt:lpstr>
      <vt:lpstr>Arial</vt:lpstr>
      <vt:lpstr>Xテーマ</vt:lpstr>
      <vt:lpstr>PowerPoint プレゼンテーション</vt:lpstr>
      <vt:lpstr>PowerPoint プレゼンテーション</vt:lpstr>
      <vt:lpstr>資料作成伴走サービスのご提案</vt:lpstr>
      <vt:lpstr>サービス概要</vt:lpstr>
      <vt:lpstr>業界課題</vt:lpstr>
      <vt:lpstr>弊社のご提案</vt:lpstr>
      <vt:lpstr>PowerPoint プレゼンテーション</vt:lpstr>
      <vt:lpstr>サービス当日の流れ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AI Agent Camp</dc:creator>
  <cp:lastModifiedBy>AI Agent Camp</cp:lastModifiedBy>
  <cp:revision>4</cp:revision>
  <dcterms:created xsi:type="dcterms:W3CDTF">2024-05-07T10:06:11Z</dcterms:created>
  <dcterms:modified xsi:type="dcterms:W3CDTF">2024-05-07T17:44:20Z</dcterms:modified>
</cp:coreProperties>
</file>