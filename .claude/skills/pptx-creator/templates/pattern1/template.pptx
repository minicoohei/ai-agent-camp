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4023360"/>
            <a:ext cx="7589520" cy="3175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828800"/>
            <a:ext cx="758952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297680"/>
            <a:ext cx="7589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A2AAAD"/>
                </a:solidFill>
                <a:latin typeface="Arial"/>
              </a:defRPr>
            </a:pPr>
            <a:r>
              <a:t>Subtitle  |  Month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51C2C"/>
                </a:solidFill>
                <a:latin typeface="Georgia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Key takeaways and decision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4415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380744"/>
            <a:ext cx="237744" cy="237744"/>
          </a:xfrm>
          <a:prstGeom prst="ellipse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30759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51C2C"/>
                </a:solidFill>
                <a:latin typeface="Arial"/>
              </a:defRPr>
            </a:pPr>
            <a:r>
              <a:t>KPI Label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307592"/>
            <a:ext cx="74980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Description of the first key metric or finding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1810512"/>
            <a:ext cx="10317175" cy="63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020824"/>
            <a:ext cx="237744" cy="23774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4767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51C2C"/>
                </a:solidFill>
                <a:latin typeface="Arial"/>
              </a:defRPr>
            </a:pPr>
            <a:r>
              <a:t>KPI Label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947672"/>
            <a:ext cx="74980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Description of the second key metric or finding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2450592"/>
            <a:ext cx="10317175" cy="63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2660904"/>
            <a:ext cx="237744" cy="237744"/>
          </a:xfrm>
          <a:prstGeom prst="ellipse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58775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51C2C"/>
                </a:solidFill>
                <a:latin typeface="Arial"/>
              </a:defRPr>
            </a:pPr>
            <a:r>
              <a:t>KPI Label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87752"/>
            <a:ext cx="74980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Description of the third key metric or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090672"/>
            <a:ext cx="10317175" cy="63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3300984"/>
            <a:ext cx="237744" cy="237744"/>
          </a:xfrm>
          <a:prstGeom prst="ellipse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22783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51C2C"/>
                </a:solidFill>
                <a:latin typeface="Arial"/>
              </a:defRPr>
            </a:pPr>
            <a:r>
              <a:t>KPI Label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227832"/>
            <a:ext cx="74980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Description of the fourth key metric or finding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3730752"/>
            <a:ext cx="10317175" cy="63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51C2C"/>
                </a:solidFill>
                <a:latin typeface="Georgia"/>
              </a:defRPr>
            </a:pPr>
            <a:r>
              <a:t>Content Slide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Action-oriented subtitle summarizing the 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4415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094415" cy="3175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64290" y="1234440"/>
            <a:ext cx="206311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10010" y="1216152"/>
            <a:ext cx="197167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51C2C"/>
                </a:solidFill>
                <a:latin typeface="Arial"/>
              </a:defRPr>
            </a:pPr>
            <a:r>
              <a:t>Section Heading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45336"/>
            <a:ext cx="11094415" cy="4901184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82496"/>
            <a:ext cx="10728655" cy="46268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defRPr sz="1600" b="0">
                <a:solidFill>
                  <a:srgbClr val="222222"/>
                </a:solidFill>
                <a:latin typeface="Arial"/>
              </a:defRPr>
            </a:pPr>
            <a:r>
              <a:t>•  First bullet point with key information</a:t>
            </a:r>
            <a:br/>
            <a:r>
              <a:t>•  Second bullet point elaborating on the topic</a:t>
            </a:r>
            <a:br/>
            <a:r>
              <a:t>•  Third bullet point with supporting data</a:t>
            </a:r>
            <a:br/>
            <a:r>
              <a:t>•  Fourth bullet point with 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51C2C"/>
                </a:solidFill>
                <a:latin typeface="Georgia"/>
              </a:defRPr>
            </a:pPr>
            <a:r>
              <a:t>Content + Visual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Data or diagram supports the narrative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4415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6434760" cy="3175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34500" y="1234440"/>
            <a:ext cx="146304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80220" y="1216152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51C2C"/>
                </a:solidFill>
                <a:latin typeface="Arial"/>
              </a:defRPr>
            </a:pPr>
            <a:r>
              <a:t>Key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257720" y="1344168"/>
            <a:ext cx="4385334" cy="3175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50275" y="1234440"/>
            <a:ext cx="180022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995" y="1216152"/>
            <a:ext cx="170878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51C2C"/>
                </a:solidFill>
                <a:latin typeface="Arial"/>
              </a:defRPr>
            </a:pPr>
            <a:r>
              <a:t>Visual /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45336"/>
            <a:ext cx="6434760" cy="4901184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82496"/>
            <a:ext cx="6069000" cy="46268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defRPr sz="1600" b="0">
                <a:solidFill>
                  <a:srgbClr val="222222"/>
                </a:solidFill>
                <a:latin typeface="Arial"/>
              </a:defRPr>
            </a:pPr>
            <a:r>
              <a:t>•  Primary insight or finding</a:t>
            </a:r>
            <a:br/>
            <a:r>
              <a:t>•  Supporting data point</a:t>
            </a:r>
            <a:br/>
            <a:r>
              <a:t>•  Strategic recommendation</a:t>
            </a:r>
            <a:br/>
            <a:r>
              <a:t>•  Next steps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57720" y="1545336"/>
            <a:ext cx="4385334" cy="4901184"/>
          </a:xfrm>
          <a:prstGeom prst="rect">
            <a:avLst/>
          </a:prstGeom>
          <a:solidFill>
            <a:srgbClr val="E8EEF4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57720" y="3813048"/>
            <a:ext cx="438533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666666"/>
                </a:solidFill>
                <a:latin typeface="Arial"/>
              </a:defRPr>
            </a:pPr>
            <a:r>
              <a:t>[Image / Chart / Diagram]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51C2C"/>
                </a:solidFill>
                <a:latin typeface="Georgia"/>
              </a:defRPr>
            </a:pPr>
            <a:r>
              <a:t>Comparison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Side-by-side analysis of two approaches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4415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5410047" cy="3175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22143" y="1234440"/>
            <a:ext cx="146304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7863" y="1216152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51C2C"/>
                </a:solidFill>
                <a:latin typeface="Arial"/>
              </a:defRPr>
            </a:pPr>
            <a:r>
              <a:t>Option A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344168"/>
            <a:ext cx="5410047" cy="3175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06510" y="1234440"/>
            <a:ext cx="146304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2230" y="1216152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51C2C"/>
                </a:solidFill>
                <a:latin typeface="Arial"/>
              </a:defRPr>
            </a:pPr>
            <a:r>
              <a:t>Option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45336"/>
            <a:ext cx="5410047" cy="4398264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82496"/>
            <a:ext cx="5044287" cy="4123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defRPr sz="1600" b="0">
                <a:solidFill>
                  <a:srgbClr val="222222"/>
                </a:solidFill>
                <a:latin typeface="Arial"/>
              </a:defRPr>
            </a:pPr>
            <a:r>
              <a:t>•  Advantage point 1</a:t>
            </a:r>
            <a:br/>
            <a:r>
              <a:t>•  Advantage point 2</a:t>
            </a:r>
            <a:br/>
            <a:r>
              <a:t>•  Advantage point 3</a:t>
            </a:r>
            <a:br/>
            <a:r>
              <a:t>•  Advantage point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545336"/>
            <a:ext cx="5410047" cy="4398264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682496"/>
            <a:ext cx="5044287" cy="4123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defRPr sz="1600" b="0">
                <a:solidFill>
                  <a:srgbClr val="222222"/>
                </a:solidFill>
                <a:latin typeface="Arial"/>
              </a:defRPr>
            </a:pPr>
            <a:r>
              <a:t>•  Advantage point 1</a:t>
            </a:r>
            <a:br/>
            <a:r>
              <a:t>•  Advantage point 2</a:t>
            </a:r>
            <a:br/>
            <a:r>
              <a:t>•  Advantage point 3</a:t>
            </a:r>
            <a:br/>
            <a:r>
              <a:t>•  Advantage point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6035040"/>
            <a:ext cx="835121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51C2C"/>
                </a:solidFill>
                <a:latin typeface="Arial"/>
              </a:defRPr>
            </a:pPr>
            <a:r>
              <a:t>Key takeaway message summarizing the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51C2C"/>
                </a:solidFill>
                <a:latin typeface="Georgia"/>
              </a:defRPr>
            </a:pPr>
            <a:r>
              <a:t>2x2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Four-quadrant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4415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16152"/>
            <a:ext cx="5432907" cy="2500884"/>
          </a:xfrm>
          <a:prstGeom prst="rect">
            <a:avLst/>
          </a:prstGeom>
          <a:solidFill>
            <a:srgbClr val="E8EEF4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506714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51C2C"/>
                </a:solidFill>
                <a:latin typeface="Arial"/>
              </a:defRPr>
            </a:pPr>
            <a:r>
              <a:t>Quadrant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5067147" cy="17693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  <a:defRPr sz="1600" b="0">
                <a:solidFill>
                  <a:srgbClr val="222222"/>
                </a:solidFill>
                <a:latin typeface="Arial"/>
              </a:defRPr>
            </a:pPr>
            <a:r>
              <a:t>Description of the first</a:t>
            </a:r>
            <a:br/>
            <a:r>
              <a:t>quadrant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147" y="1216152"/>
            <a:ext cx="5432907" cy="2500884"/>
          </a:xfrm>
          <a:prstGeom prst="rect">
            <a:avLst/>
          </a:prstGeom>
          <a:solidFill>
            <a:srgbClr val="F0F4F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3027" y="1353312"/>
            <a:ext cx="506714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Quadrant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3027" y="1764792"/>
            <a:ext cx="5067147" cy="17693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  <a:defRPr sz="1600" b="0">
                <a:solidFill>
                  <a:srgbClr val="222222"/>
                </a:solidFill>
                <a:latin typeface="Arial"/>
              </a:defRPr>
            </a:pPr>
            <a:r>
              <a:t>Description of the second</a:t>
            </a:r>
            <a:br/>
            <a:r>
              <a:t>quadrant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45636"/>
            <a:ext cx="5432907" cy="2500884"/>
          </a:xfrm>
          <a:prstGeom prst="rect">
            <a:avLst/>
          </a:prstGeom>
          <a:solidFill>
            <a:srgbClr val="F0F4F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82796"/>
            <a:ext cx="506714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Quadrant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94276"/>
            <a:ext cx="5067147" cy="17693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  <a:defRPr sz="1600" b="0">
                <a:solidFill>
                  <a:srgbClr val="222222"/>
                </a:solidFill>
                <a:latin typeface="Arial"/>
              </a:defRPr>
            </a:pPr>
            <a:r>
              <a:t>Description of the third</a:t>
            </a:r>
            <a:br/>
            <a:r>
              <a:t>quadrant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3945636"/>
            <a:ext cx="5432907" cy="2500884"/>
          </a:xfrm>
          <a:prstGeom prst="rect">
            <a:avLst/>
          </a:prstGeom>
          <a:solidFill>
            <a:srgbClr val="E8EEF4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3027" y="4082796"/>
            <a:ext cx="506714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51C2C"/>
                </a:solidFill>
                <a:latin typeface="Arial"/>
              </a:defRPr>
            </a:pPr>
            <a:r>
              <a:t>Quadrant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3027" y="4494276"/>
            <a:ext cx="5067147" cy="17693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  <a:defRPr sz="1600" b="0">
                <a:solidFill>
                  <a:srgbClr val="222222"/>
                </a:solidFill>
                <a:latin typeface="Arial"/>
              </a:defRPr>
            </a:pPr>
            <a:r>
              <a:t>Description of the fourth</a:t>
            </a:r>
            <a:br/>
            <a:r>
              <a:t>quadrant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51C2C"/>
                </a:solidFill>
                <a:latin typeface="Georgia"/>
              </a:defRPr>
            </a:pPr>
            <a:r>
              <a:t>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Step-by-step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4415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25104" y="1490472"/>
            <a:ext cx="512064" cy="51206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5104" y="1563624"/>
            <a:ext cx="5120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Futur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84832"/>
            <a:ext cx="246499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51C2C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79192"/>
            <a:ext cx="246499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666666"/>
                </a:solidFill>
                <a:latin typeface="Arial"/>
              </a:defRPr>
            </a:pPr>
            <a:r>
              <a:t>Description of</a:t>
            </a:r>
            <a:br/>
            <a:r>
              <a:t>the first 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3059353" y="1691640"/>
            <a:ext cx="320040" cy="1905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01577" y="1490472"/>
            <a:ext cx="512064" cy="51206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1577" y="1563624"/>
            <a:ext cx="5120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Futura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5113" y="2084832"/>
            <a:ext cx="246499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51C2C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5113" y="2679192"/>
            <a:ext cx="246499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666666"/>
                </a:solidFill>
                <a:latin typeface="Arial"/>
              </a:defRPr>
            </a:pPr>
            <a:r>
              <a:t>Description of</a:t>
            </a:r>
            <a:br/>
            <a:r>
              <a:t>the second step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35827" y="1691640"/>
            <a:ext cx="320040" cy="1905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78051" y="1490472"/>
            <a:ext cx="512064" cy="51206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78051" y="1563624"/>
            <a:ext cx="5120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Futura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2084832"/>
            <a:ext cx="246499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51C2C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1587" y="2679192"/>
            <a:ext cx="246499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666666"/>
                </a:solidFill>
                <a:latin typeface="Arial"/>
              </a:defRPr>
            </a:pPr>
            <a:r>
              <a:t>Description of</a:t>
            </a:r>
            <a:br/>
            <a:r>
              <a:t>the third step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12301" y="1691640"/>
            <a:ext cx="320040" cy="1905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54525" y="1490472"/>
            <a:ext cx="512064" cy="51206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4525" y="1563624"/>
            <a:ext cx="5120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Futura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8061" y="2084832"/>
            <a:ext cx="246499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51C2C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8061" y="2679192"/>
            <a:ext cx="246499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666666"/>
                </a:solidFill>
                <a:latin typeface="Arial"/>
              </a:defRPr>
            </a:pPr>
            <a:r>
              <a:t>Description of</a:t>
            </a:r>
            <a:br/>
            <a:r>
              <a:t>the fourth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51C2C"/>
                </a:solidFill>
                <a:latin typeface="Georgia"/>
              </a:defRPr>
            </a:pPr>
            <a:r>
              <a:t>Data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Structured data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4415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07592"/>
          <a:ext cx="11094412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3"/>
              </a:tblGrid>
              <a:tr h="182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1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Item 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Value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Supporting detail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Item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Value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Supporting detail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Item 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Value 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Supporting detail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83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Item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Value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Supporting detail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51C2C"/>
                </a:solidFill>
                <a:latin typeface="Georgia"/>
              </a:defRPr>
            </a:pPr>
            <a:r>
              <a:t>Full Image / Diagram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Visual-first layout for architecture or data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4415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16152"/>
            <a:ext cx="11094415" cy="5230368"/>
          </a:xfrm>
          <a:prstGeom prst="rect">
            <a:avLst/>
          </a:prstGeom>
          <a:solidFill>
            <a:srgbClr val="E8EEF4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25596"/>
            <a:ext cx="1109441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666666"/>
                </a:solidFill>
                <a:latin typeface="Arial"/>
              </a:defRPr>
            </a:pPr>
            <a:r>
              <a:t>[Full-width Image / Diagram / Architecture]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3657600"/>
            <a:ext cx="7589520" cy="3175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828800"/>
            <a:ext cx="75895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A2AAAD"/>
                </a:solidFill>
                <a:latin typeface="Arial"/>
              </a:defRPr>
            </a:pPr>
            <a:r>
              <a:t>Action Item 1  |  Action Item 2  |  Action Item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2AAAD"/>
                </a:solidFill>
                <a:latin typeface="Futura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